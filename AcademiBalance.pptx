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7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325" autoAdjust="0"/>
  </p:normalViewPr>
  <p:slideViewPr>
    <p:cSldViewPr snapToGrid="0">
      <p:cViewPr varScale="1">
        <p:scale>
          <a:sx n="54" d="100"/>
          <a:sy n="54" d="100"/>
        </p:scale>
        <p:origin x="1148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213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10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510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5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746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63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429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196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622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8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4/3/2026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4/3/2026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A56C-7A25-4BD4-AA72-5256E68BE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79" y="475990"/>
            <a:ext cx="10647123" cy="3694458"/>
          </a:xfrm>
        </p:spPr>
        <p:txBody>
          <a:bodyPr>
            <a:normAutofit/>
          </a:bodyPr>
          <a:lstStyle/>
          <a:p>
            <a:r>
              <a:rPr lang="en-US" sz="4400" dirty="0" err="1"/>
              <a:t>AcademiBalance</a:t>
            </a:r>
            <a:r>
              <a:rPr lang="en-US" sz="4400" dirty="0"/>
              <a:t>: An AI‑Driven Faculty Workload Time Allocation Assistant</a:t>
            </a:r>
            <a:br>
              <a:rPr lang="en-US" sz="4400" dirty="0"/>
            </a:br>
            <a:r>
              <a:rPr lang="en-US" sz="3100" dirty="0"/>
              <a:t>Tools: Excel, Power BI, Microsoft Copilot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CF363-1123-45B1-8A9A-ABCDA40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575164"/>
            <a:ext cx="8637072" cy="977621"/>
          </a:xfrm>
        </p:spPr>
        <p:txBody>
          <a:bodyPr>
            <a:normAutofit/>
          </a:bodyPr>
          <a:lstStyle/>
          <a:p>
            <a:r>
              <a:rPr lang="en-US" sz="2800" dirty="0"/>
              <a:t>Dr. Priya . A - Brindavan College · AICW 2026</a:t>
            </a:r>
          </a:p>
        </p:txBody>
      </p:sp>
      <p:pic>
        <p:nvPicPr>
          <p:cNvPr id="5" name="Graphic 4" descr="Brain in head icon&#10;">
            <a:extLst>
              <a:ext uri="{FF2B5EF4-FFF2-40B4-BE49-F238E27FC236}">
                <a16:creationId xmlns:a16="http://schemas.microsoft.com/office/drawing/2014/main" id="{D011E263-3212-4780-A140-E652B108BD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8408" y="1989000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/>
              <a:t>Motivation &amp; Problem</a:t>
            </a:r>
          </a:p>
        </p:txBody>
      </p:sp>
      <p:pic>
        <p:nvPicPr>
          <p:cNvPr id="4" name="Graphic 3" descr="Lightbulb icon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practice:  Focus on raw teaching hours.</a:t>
            </a:r>
          </a:p>
          <a:p>
            <a:r>
              <a:rPr lang="en-US" dirty="0"/>
              <a:t>Complexity of </a:t>
            </a:r>
            <a:r>
              <a:rPr lang="en-US" dirty="0" err="1"/>
              <a:t>programmes</a:t>
            </a:r>
            <a:r>
              <a:rPr lang="en-US" dirty="0"/>
              <a:t> and batch size often ignored.</a:t>
            </a:r>
          </a:p>
          <a:p>
            <a:r>
              <a:rPr lang="en-US" dirty="0"/>
              <a:t>Leads to hidden overload / under‑load across faculty.</a:t>
            </a:r>
          </a:p>
          <a:p>
            <a:r>
              <a:rPr lang="en-US" dirty="0"/>
              <a:t>Need: simple, visual, evidence‑based tool for HODs.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/>
              <a:t>Data &amp; Metrics</a:t>
            </a:r>
          </a:p>
        </p:txBody>
      </p:sp>
      <p:pic>
        <p:nvPicPr>
          <p:cNvPr id="5" name="Graphic 4" descr="Man and Woman icon">
            <a:extLst>
              <a:ext uri="{FF2B5EF4-FFF2-40B4-BE49-F238E27FC236}">
                <a16:creationId xmlns:a16="http://schemas.microsoft.com/office/drawing/2014/main" id="{2DED0F48-76A7-437D-9746-E2DF97A1C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3742" y="216211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Data:</a:t>
            </a:r>
          </a:p>
          <a:p>
            <a:pPr lvl="1"/>
            <a:r>
              <a:rPr lang="en-US" sz="2000" dirty="0"/>
              <a:t>Real workload data for 30–40 faculty from my institution.</a:t>
            </a:r>
          </a:p>
          <a:p>
            <a:pPr lvl="1"/>
            <a:r>
              <a:rPr lang="en-US" sz="2000" dirty="0"/>
              <a:t>Additional simulated records to reach 70 faculty for richer patterns.</a:t>
            </a:r>
          </a:p>
          <a:p>
            <a:r>
              <a:rPr lang="en-US" dirty="0"/>
              <a:t>Key metrics:</a:t>
            </a:r>
          </a:p>
          <a:p>
            <a:pPr lvl="1"/>
            <a:r>
              <a:rPr lang="en-US" sz="2000" dirty="0"/>
              <a:t>Total Workload Hours (TWH).</a:t>
            </a:r>
          </a:p>
          <a:p>
            <a:pPr lvl="1"/>
            <a:r>
              <a:rPr lang="en-US" sz="2000" dirty="0"/>
              <a:t>Complexity‑Adjusted Hours (CAH).</a:t>
            </a:r>
          </a:p>
          <a:p>
            <a:pPr lvl="1"/>
            <a:r>
              <a:rPr lang="en-US" sz="2000" dirty="0"/>
              <a:t>Student‑Adjusted Load Index (SALI)</a:t>
            </a:r>
          </a:p>
          <a:p>
            <a:pPr lvl="0"/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43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/>
              <a:t>Methodology &amp; Thresholds</a:t>
            </a:r>
          </a:p>
        </p:txBody>
      </p:sp>
      <p:pic>
        <p:nvPicPr>
          <p:cNvPr id="6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4045" y="340011"/>
            <a:ext cx="1044000" cy="1044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Excel: data cleaning, TWH, CAH, SALI formulas.</a:t>
            </a:r>
          </a:p>
          <a:p>
            <a:r>
              <a:rPr lang="en-US" dirty="0"/>
              <a:t>Power BI: model, measures, SALI‑based status.</a:t>
            </a:r>
          </a:p>
          <a:p>
            <a:r>
              <a:rPr lang="en-US" dirty="0"/>
              <a:t>SALI thresholds:</a:t>
            </a:r>
          </a:p>
          <a:p>
            <a:pPr lvl="1"/>
            <a:r>
              <a:rPr lang="en-US" sz="2000" dirty="0"/>
              <a:t>&gt; 900 – Overloaded</a:t>
            </a:r>
          </a:p>
          <a:p>
            <a:pPr lvl="1"/>
            <a:r>
              <a:rPr lang="en-US" sz="2000" dirty="0"/>
              <a:t>600–900 – Balanced</a:t>
            </a:r>
          </a:p>
          <a:p>
            <a:pPr lvl="1"/>
            <a:r>
              <a:rPr lang="en-US" sz="2000" dirty="0"/>
              <a:t>&lt; 600 – Under‑loaded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93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E978-9605-417C-951F-53F4926C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49" y="792544"/>
            <a:ext cx="9610182" cy="601226"/>
          </a:xfrm>
        </p:spPr>
        <p:txBody>
          <a:bodyPr/>
          <a:lstStyle/>
          <a:p>
            <a:r>
              <a:rPr lang="en-US" dirty="0"/>
              <a:t>Dashboard Design</a:t>
            </a:r>
          </a:p>
        </p:txBody>
      </p:sp>
      <p:pic>
        <p:nvPicPr>
          <p:cNvPr id="7" name="Graphic 6" descr="Gears icon">
            <a:extLst>
              <a:ext uri="{FF2B5EF4-FFF2-40B4-BE49-F238E27FC236}">
                <a16:creationId xmlns:a16="http://schemas.microsoft.com/office/drawing/2014/main" id="{DA9595F8-50AF-4C85-9BC5-B52646E113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69550" y="231319"/>
            <a:ext cx="1122450" cy="11224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6B87E-83DC-455A-94FE-389658903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1523" y="1645522"/>
            <a:ext cx="4617299" cy="38367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KPI cards: Avg TWH, Avg CAH, Avg SALI, Total Faculty.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Charts: SALI by programme; CAH by programme.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Table: faculty‑wise metrics + overload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Slicers: programme, semester, department, contract type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B9FFA1D-8B12-40C3-D5F1-CDAA6F6D8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95875" y="363558"/>
            <a:ext cx="6196414" cy="570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98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222A-0050-42E6-8C3E-86E3C365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09" y="798974"/>
            <a:ext cx="9610182" cy="601226"/>
          </a:xfrm>
        </p:spPr>
        <p:txBody>
          <a:bodyPr/>
          <a:lstStyle/>
          <a:p>
            <a:r>
              <a:rPr lang="en-US" dirty="0"/>
              <a:t>Key Patterns Observed</a:t>
            </a:r>
          </a:p>
        </p:txBody>
      </p:sp>
      <p:pic>
        <p:nvPicPr>
          <p:cNvPr id="10" name="Graphic 9" descr="Star icon">
            <a:extLst>
              <a:ext uri="{FF2B5EF4-FFF2-40B4-BE49-F238E27FC236}">
                <a16:creationId xmlns:a16="http://schemas.microsoft.com/office/drawing/2014/main" id="{F76D2371-447B-414B-9273-61F2CA39A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7703" y="280289"/>
            <a:ext cx="1044000" cy="1044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D5DDD4-B30F-43B5-9BA0-190CC29E96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9" y="1617662"/>
            <a:ext cx="4570064" cy="4221277"/>
          </a:xfrm>
        </p:spPr>
        <p:txBody>
          <a:bodyPr/>
          <a:lstStyle/>
          <a:p>
            <a:r>
              <a:rPr lang="en-US" dirty="0" err="1"/>
              <a:t>B.Com</a:t>
            </a:r>
            <a:r>
              <a:rPr lang="en-US" dirty="0"/>
              <a:t>, BBA, BBA Aviation: higher average SALI than Languages/BCA.</a:t>
            </a:r>
          </a:p>
          <a:p>
            <a:r>
              <a:rPr lang="en-US" dirty="0"/>
              <a:t>Several regular </a:t>
            </a:r>
            <a:r>
              <a:rPr lang="en-US" dirty="0" err="1"/>
              <a:t>B.Com</a:t>
            </a:r>
            <a:r>
              <a:rPr lang="en-US" dirty="0"/>
              <a:t> and BBA/BBA Aviation faculty flagged as overloaded.</a:t>
            </a:r>
          </a:p>
          <a:p>
            <a:r>
              <a:rPr lang="en-US" dirty="0"/>
              <a:t>SALI‑based classification (subset n=37):</a:t>
            </a:r>
          </a:p>
          <a:p>
            <a:pPr lvl="1"/>
            <a:r>
              <a:rPr lang="en-US" sz="2000" dirty="0"/>
              <a:t>7 overloaded, 23 balanced, 7 under‑loaded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B5870E-AFBB-1D20-A62C-CB1A9997667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5860973" y="1617663"/>
            <a:ext cx="5938091" cy="444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9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Faculty‑Level View &amp; Use Cases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DCED45-CA91-495F-8329-49163D40BC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4231" y="1606858"/>
            <a:ext cx="4428781" cy="444662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Faculty table highlights overloaded, balanced, under‑loaded cases.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      HOD use: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Identify faculty needing relief.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Reassign courses from overloaded to balanced/under‑loaded.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Compare regular vs visiting patterns.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7C987E-8E7C-49A0-CA8F-15C7F63B2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06858"/>
            <a:ext cx="6389783" cy="426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8C7954-457B-6C07-F3E7-D646C248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3" y="1608464"/>
            <a:ext cx="4974235" cy="3857882"/>
          </a:xfrm>
        </p:spPr>
        <p:txBody>
          <a:bodyPr/>
          <a:lstStyle/>
          <a:p>
            <a:r>
              <a:rPr lang="en-US" dirty="0"/>
              <a:t>Copilot prompts over the same dataset.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Summarise</a:t>
            </a:r>
            <a:r>
              <a:rPr lang="en-US" dirty="0"/>
              <a:t> which </a:t>
            </a:r>
            <a:r>
              <a:rPr lang="en-US" dirty="0" err="1"/>
              <a:t>programmes</a:t>
            </a:r>
            <a:r>
              <a:rPr lang="en-US" dirty="0"/>
              <a:t> have highest average SALI and why.”</a:t>
            </a:r>
          </a:p>
          <a:p>
            <a:r>
              <a:rPr lang="en-US" dirty="0"/>
              <a:t>Output: short academic‑style narrative used in report and demo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626F30-1CD8-FB8E-1DCB-BE11291B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Narrative Integration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A3EC24-723E-C656-3A8D-9D04E3C394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577564"/>
            <a:ext cx="5682867" cy="433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1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913029-2D4E-87C8-A0ED-42EAB0195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repo with dataset + PBIX + documentation.</a:t>
            </a:r>
            <a:br>
              <a:rPr lang="en-US" dirty="0"/>
            </a:br>
            <a:r>
              <a:rPr lang="en-US" dirty="0"/>
              <a:t>https://github.com/Priya051188/AcademiBalance-Faculty-Workload</a:t>
            </a:r>
          </a:p>
          <a:p>
            <a:r>
              <a:rPr lang="en-US" dirty="0"/>
              <a:t>Shared Power BI dashboard link for evaluators.</a:t>
            </a:r>
          </a:p>
          <a:p>
            <a:r>
              <a:rPr lang="en-US" dirty="0"/>
              <a:t>Short demo video link</a:t>
            </a:r>
          </a:p>
          <a:p>
            <a:r>
              <a:rPr lang="en-US" dirty="0"/>
              <a:t>Next steps:</a:t>
            </a:r>
          </a:p>
          <a:p>
            <a:pPr lvl="1"/>
            <a:r>
              <a:rPr lang="en-US" sz="2000" dirty="0"/>
              <a:t>Refine what‑if planning scenarios.</a:t>
            </a:r>
          </a:p>
          <a:p>
            <a:pPr lvl="1"/>
            <a:r>
              <a:rPr lang="en-US" sz="2000" dirty="0"/>
              <a:t>Explore using more real data (policy‑permitting)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0728F5-2E7B-1E85-EC5A-9FE4A96A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Artefacts, Progress &amp; Next Steps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82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D1B-FD36-0776-58FD-67BCFA5D24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4661361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513</TotalTime>
  <Words>424</Words>
  <Application>Microsoft Office PowerPoint</Application>
  <PresentationFormat>Widescreen</PresentationFormat>
  <Paragraphs>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MT</vt:lpstr>
      <vt:lpstr>Tahoma</vt:lpstr>
      <vt:lpstr>Gallery</vt:lpstr>
      <vt:lpstr>AcademiBalance: An AI‑Driven Faculty Workload Time Allocation Assistant Tools: Excel, Power BI, Microsoft Copilot </vt:lpstr>
      <vt:lpstr>Motivation &amp; Problem</vt:lpstr>
      <vt:lpstr>Data &amp; Metrics</vt:lpstr>
      <vt:lpstr>Methodology &amp; Thresholds</vt:lpstr>
      <vt:lpstr>Dashboard Design</vt:lpstr>
      <vt:lpstr>Key Patterns Observed</vt:lpstr>
      <vt:lpstr>Faculty‑Level View &amp; Use Cases</vt:lpstr>
      <vt:lpstr>AI Narrative Integration </vt:lpstr>
      <vt:lpstr>Artefacts, Progress &amp; Next Steps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 Chandran</dc:creator>
  <cp:lastModifiedBy>Murali Chandran</cp:lastModifiedBy>
  <cp:revision>21</cp:revision>
  <dcterms:created xsi:type="dcterms:W3CDTF">2026-03-30T14:22:31Z</dcterms:created>
  <dcterms:modified xsi:type="dcterms:W3CDTF">2026-04-03T14:25:11Z</dcterms:modified>
</cp:coreProperties>
</file>