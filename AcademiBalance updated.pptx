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65" r:id="rId2"/>
    <p:sldId id="266" r:id="rId3"/>
    <p:sldId id="267" r:id="rId4"/>
    <p:sldId id="268" r:id="rId5"/>
    <p:sldId id="269" r:id="rId6"/>
    <p:sldId id="270" r:id="rId7"/>
    <p:sldId id="272" r:id="rId8"/>
    <p:sldId id="271" r:id="rId9"/>
    <p:sldId id="275" r:id="rId10"/>
    <p:sldId id="276" r:id="rId11"/>
    <p:sldId id="277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074" autoAdjust="0"/>
  </p:normalViewPr>
  <p:slideViewPr>
    <p:cSldViewPr snapToGrid="0">
      <p:cViewPr>
        <p:scale>
          <a:sx n="63" d="100"/>
          <a:sy n="63" d="100"/>
        </p:scale>
        <p:origin x="80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1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1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1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46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63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96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29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13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89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86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22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4/14/2026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4/14/2026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ya051188/AcademiBalance-Faculty-Workloa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bbZqjtC4m9hC5x8Z1tGiZVTJsBAiwGcZ/view?usp=sharing" TargetMode="External"/><Relationship Id="rId4" Type="http://schemas.openxmlformats.org/officeDocument/2006/relationships/hyperlink" Target="https://drive.google.com/file/d/1T-cerr5kOfUjkWNNtqFb8NXrTO1tSk-1/view?usp=sharing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79" y="475990"/>
            <a:ext cx="10647123" cy="3694458"/>
          </a:xfrm>
        </p:spPr>
        <p:txBody>
          <a:bodyPr>
            <a:normAutofit/>
          </a:bodyPr>
          <a:lstStyle/>
          <a:p>
            <a:r>
              <a:rPr lang="en-US" sz="4400" dirty="0" err="1"/>
              <a:t>AcademiBalance</a:t>
            </a:r>
            <a:r>
              <a:rPr lang="en-US" sz="4400" dirty="0"/>
              <a:t>: An AI‑Driven Faculty Workload Time Allocation Assistant</a:t>
            </a:r>
            <a:br>
              <a:rPr lang="en-US" sz="4400" dirty="0"/>
            </a:br>
            <a:r>
              <a:rPr lang="en-US" sz="3100" dirty="0"/>
              <a:t>Tools: Excel, Power BI, Microsoft Copilot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75164"/>
            <a:ext cx="8637072" cy="977621"/>
          </a:xfrm>
        </p:spPr>
        <p:txBody>
          <a:bodyPr>
            <a:normAutofit/>
          </a:bodyPr>
          <a:lstStyle/>
          <a:p>
            <a:r>
              <a:rPr lang="en-US" sz="2800" dirty="0"/>
              <a:t>Dr. Priya . A - Brindavan College · AICW 2026</a:t>
            </a:r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8408" y="198900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6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Motivation &amp; Problem</a:t>
            </a:r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practice:  Focus on raw teaching hours.</a:t>
            </a:r>
          </a:p>
          <a:p>
            <a:r>
              <a:rPr lang="en-US" dirty="0"/>
              <a:t>Complexity of </a:t>
            </a:r>
            <a:r>
              <a:rPr lang="en-US" dirty="0" err="1"/>
              <a:t>programmes</a:t>
            </a:r>
            <a:r>
              <a:rPr lang="en-US" dirty="0"/>
              <a:t> and batch size often ignored.</a:t>
            </a:r>
          </a:p>
          <a:p>
            <a:r>
              <a:rPr lang="en-US" dirty="0"/>
              <a:t>Leads to hidden overload / under‑load across faculty.</a:t>
            </a:r>
          </a:p>
          <a:p>
            <a:r>
              <a:rPr lang="en-US" dirty="0"/>
              <a:t>Need: simple, visual, evidence‑based tool for HODs.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0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Data, Metrics &amp; Scope</a:t>
            </a:r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Data:</a:t>
            </a:r>
          </a:p>
          <a:p>
            <a:pPr lvl="1"/>
            <a:r>
              <a:rPr lang="en-US" sz="2000" dirty="0"/>
              <a:t>Real workload data from about 30–40 faculty, expanded to 70 records for richer analysis.</a:t>
            </a:r>
          </a:p>
          <a:p>
            <a:pPr lvl="1"/>
            <a:r>
              <a:rPr lang="en-US" sz="2000" dirty="0"/>
              <a:t>Coverage across B.Com, BBA, BBA Aviation, BCA, B.Sc and Languages.</a:t>
            </a:r>
          </a:p>
          <a:p>
            <a:r>
              <a:rPr lang="en-US" dirty="0"/>
              <a:t>Core metrics:</a:t>
            </a:r>
          </a:p>
          <a:p>
            <a:pPr lvl="1"/>
            <a:r>
              <a:rPr lang="en-US" sz="2000" dirty="0"/>
              <a:t>Total Workload Hours (TWH).</a:t>
            </a:r>
          </a:p>
          <a:p>
            <a:pPr lvl="1"/>
            <a:r>
              <a:rPr lang="en-US" sz="2000" dirty="0"/>
              <a:t>Complexity‑Adjusted Hours (CAH).</a:t>
            </a:r>
          </a:p>
          <a:p>
            <a:pPr lvl="1"/>
            <a:r>
              <a:rPr lang="en-US" sz="2000" dirty="0"/>
              <a:t>Student‑Adjusted Load Index (SALI)</a:t>
            </a:r>
          </a:p>
          <a:p>
            <a:pPr lvl="0"/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92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Methodology &amp; Classification</a:t>
            </a:r>
          </a:p>
        </p:txBody>
      </p:sp>
      <p:pic>
        <p:nvPicPr>
          <p:cNvPr id="6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4045" y="340011"/>
            <a:ext cx="1044000" cy="1044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Excel: data cleaning, validation, and metric formulas.</a:t>
            </a:r>
          </a:p>
          <a:p>
            <a:r>
              <a:rPr lang="en-US" dirty="0"/>
              <a:t>Power BI: model, DAX measures, dashboard and what-if analysis.</a:t>
            </a:r>
          </a:p>
          <a:p>
            <a:r>
              <a:rPr lang="en-US" dirty="0"/>
              <a:t>SALI classification:</a:t>
            </a:r>
          </a:p>
          <a:p>
            <a:pPr lvl="1"/>
            <a:r>
              <a:rPr lang="en-US" sz="2000" dirty="0"/>
              <a:t>&gt; 900 – Overloaded</a:t>
            </a:r>
          </a:p>
          <a:p>
            <a:pPr lvl="1"/>
            <a:r>
              <a:rPr lang="en-US" sz="2000" dirty="0"/>
              <a:t>600–900 – Balanced</a:t>
            </a:r>
          </a:p>
          <a:p>
            <a:pPr lvl="1"/>
            <a:r>
              <a:rPr lang="en-US" sz="2000" dirty="0"/>
              <a:t>&lt; 600 – Under‑loaded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49" y="792544"/>
            <a:ext cx="9610182" cy="601226"/>
          </a:xfrm>
        </p:spPr>
        <p:txBody>
          <a:bodyPr/>
          <a:lstStyle/>
          <a:p>
            <a:r>
              <a:rPr lang="en-US" dirty="0"/>
              <a:t>Dashboard, Workflow &amp; Chatbot</a:t>
            </a: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9550" y="231319"/>
            <a:ext cx="1122450" cy="11224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B87E-83DC-455A-94FE-38965890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1523" y="1645522"/>
            <a:ext cx="4617299" cy="38367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Interactive dashboard built in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Includes KPI cards, programme-wise charts, faculty-wise tables, and filters for department, programme, semester, and contract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both summary-level and faculty-level analysis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110C4B-B388-7897-4C50-BF2A189A4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95875" y="1645522"/>
            <a:ext cx="5807075" cy="383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43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22A-0050-42E6-8C3E-86E3C36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pic>
        <p:nvPicPr>
          <p:cNvPr id="10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7703" y="280289"/>
            <a:ext cx="1044000" cy="1044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D5DDD4-B30F-43B5-9BA0-190CC29E9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9" y="1617662"/>
            <a:ext cx="4570064" cy="4221277"/>
          </a:xfrm>
        </p:spPr>
        <p:txBody>
          <a:bodyPr/>
          <a:lstStyle/>
          <a:p>
            <a:r>
              <a:rPr lang="en-US" dirty="0" err="1"/>
              <a:t>B.Com</a:t>
            </a:r>
            <a:r>
              <a:rPr lang="en-US" dirty="0"/>
              <a:t>, BBA, BBA Aviation: higher average SALI than Languages/BCA.</a:t>
            </a:r>
          </a:p>
          <a:p>
            <a:r>
              <a:rPr lang="en-US" dirty="0"/>
              <a:t>Several regular </a:t>
            </a:r>
            <a:r>
              <a:rPr lang="en-US" dirty="0" err="1"/>
              <a:t>B.Com</a:t>
            </a:r>
            <a:r>
              <a:rPr lang="en-US" dirty="0"/>
              <a:t> and BBA/BBA Aviation faculty flagged as overloaded.</a:t>
            </a:r>
          </a:p>
          <a:p>
            <a:r>
              <a:rPr lang="en-US" dirty="0"/>
              <a:t>SALI classification (subset n=37):</a:t>
            </a:r>
          </a:p>
          <a:p>
            <a:pPr lvl="1"/>
            <a:r>
              <a:rPr lang="en-US" sz="2000" dirty="0"/>
              <a:t>7 overloaded, 23 balanced, 7 under‑loaded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B5870E-AFBB-1D20-A62C-CB1A9997667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5860973" y="1617663"/>
            <a:ext cx="5938091" cy="44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0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8C7954-457B-6C07-F3E7-D646C248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1608464"/>
            <a:ext cx="4974235" cy="3857882"/>
          </a:xfrm>
        </p:spPr>
        <p:txBody>
          <a:bodyPr/>
          <a:lstStyle/>
          <a:p>
            <a:r>
              <a:rPr lang="en-US" dirty="0"/>
              <a:t>Microsoft Copilot generates workload summaries in natural language.</a:t>
            </a:r>
          </a:p>
          <a:p>
            <a:r>
              <a:rPr lang="en-US" dirty="0"/>
              <a:t>Microsoft Forms and Power Automate support low-maintenance data updates and dashboard refresh.</a:t>
            </a:r>
          </a:p>
          <a:p>
            <a:r>
              <a:rPr lang="en-US" dirty="0"/>
              <a:t>Chatbot layer enables natural-language questions such as overloaded faculty, highest SALI programme, or workload status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26F30-1CD8-FB8E-1DCB-BE11291B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AI, Automation &amp; Chatbot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ED3A2-687B-91EE-2C1E-9DCBB45E0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08463"/>
            <a:ext cx="5414011" cy="425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1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Faculty View &amp; Planning Use Cases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DCED45-CA91-495F-8329-49163D40BC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4231" y="1606858"/>
            <a:ext cx="6476679" cy="4446623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Faculty-level view displays individual workload metrics, status, and assigned responsibilities for closer review.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It helps Heads of Department identify overloaded, balanced, or </a:t>
            </a:r>
            <a:r>
              <a:rPr lang="en-US" sz="2000" dirty="0" err="1"/>
              <a:t>under-utilised</a:t>
            </a:r>
            <a:r>
              <a:rPr lang="en-US" sz="2000" dirty="0"/>
              <a:t> faculty using TWH, CAH, and SALI indicators.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planning use case supports evidence-based redistribution of courses and duties before timetables are </a:t>
            </a:r>
            <a:r>
              <a:rPr lang="en-US" sz="2000" dirty="0" err="1"/>
              <a:t>finalised</a:t>
            </a:r>
            <a:r>
              <a:rPr lang="en-US" sz="20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This makes workload allocation more transparent, fair, and scenario-based rather than informal or ad hoc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04B88-7D20-2825-41ED-356D7C208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824" y="1606858"/>
            <a:ext cx="3817945" cy="444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7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77D2-79C4-FD5C-C183-5308EC94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Insights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156E4-E553-35A9-1FA7-35C1EFC8BB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40000" lnSpcReduction="20000"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Complexity- and student-adjusted metrics reveal hidden workload inequities not visible from contact hours alone.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The dashboard supports evidence-based redistribution of courses before timetable finalization.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 err="1"/>
              <a:t>AcademiBalance</a:t>
            </a:r>
            <a:r>
              <a:rPr lang="en-US" dirty="0"/>
              <a:t> improves transparency, fairness, and workload planning quality.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8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89B8-2EC4-90C8-4DBF-F4827B9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and Future Scope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18298-69C4-C6FC-8AC5-F7630B292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32500" lnSpcReduction="20000"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the model is still a partial prototype rather than a fully live institutional implementation.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Complexity coefficients and overload thresholds are based on judgement and heuristics.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Current model focuses on descriptive and diagnostic analytics, not predictive optimization.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Future scope includes real institutional deployment, predictive analytics, Power Apps/web front-end, and live chatbot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3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B218-49C4-C292-FCCC-17C39E15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79CC0-46AD-0110-C48F-A1CA8423B5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40000" lnSpcReduction="20000"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 err="1"/>
              <a:t>AcademiBalance</a:t>
            </a:r>
            <a:r>
              <a:rPr lang="en-US" dirty="0"/>
              <a:t> demonstrates a practical AI-assisted approach to faculty workload management.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It combines Excel, Power BI, Copilot, Forms, Power Automate, and chatbot support in one decision-support framework.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dirty="0"/>
              <a:t>The project can help institutions move toward transparent, equitable, and data-informed workload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6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913029-2D4E-87C8-A0ED-42EAB0195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GitHub repo with dataset, PBIX and documentation.</a:t>
            </a:r>
            <a:br>
              <a:rPr lang="en-US" dirty="0"/>
            </a:br>
            <a:r>
              <a:rPr lang="en-US" dirty="0">
                <a:hlinkClick r:id="rId3"/>
              </a:rPr>
              <a:t>https://github.com/Priya051188</a:t>
            </a:r>
            <a:r>
              <a:rPr lang="en-US">
                <a:hlinkClick r:id="rId3"/>
              </a:rPr>
              <a:t>/AcademiBalance-Faculty-Workload</a:t>
            </a:r>
            <a:r>
              <a:rPr lang="en-US"/>
              <a:t> </a:t>
            </a:r>
            <a:endParaRPr lang="en-US" dirty="0"/>
          </a:p>
          <a:p>
            <a:r>
              <a:rPr lang="en-US" dirty="0"/>
              <a:t>Shared Power BI dashboard link for evaluators: </a:t>
            </a:r>
            <a:r>
              <a:rPr lang="en-US" dirty="0">
                <a:hlinkClick r:id="rId4"/>
              </a:rPr>
              <a:t>https://drive.google.com/file/d/1T-cerr5kOfUjkWNNtqFb8NXrTO1tSk-1/view?usp=sharing</a:t>
            </a:r>
            <a:r>
              <a:rPr lang="en-US" dirty="0"/>
              <a:t> </a:t>
            </a:r>
          </a:p>
          <a:p>
            <a:r>
              <a:rPr lang="en-US" dirty="0"/>
              <a:t>Short demo video link: </a:t>
            </a:r>
            <a:r>
              <a:rPr lang="en-US" dirty="0">
                <a:hlinkClick r:id="rId5"/>
              </a:rPr>
              <a:t>https://drive.google.com/file/d/1bbZqjtC4m9hC5x8Z1tGiZVTJsBAiwGcZ/view?usp=sharing</a:t>
            </a:r>
            <a:r>
              <a:rPr lang="en-US" dirty="0"/>
              <a:t> </a:t>
            </a:r>
          </a:p>
          <a:p>
            <a:r>
              <a:rPr lang="en-US" dirty="0"/>
              <a:t>Next steps:</a:t>
            </a:r>
          </a:p>
          <a:p>
            <a:pPr lvl="1"/>
            <a:r>
              <a:rPr lang="en-US" sz="2000" dirty="0"/>
              <a:t>Refine what-if planning scenarios and chatbot responses.</a:t>
            </a:r>
          </a:p>
          <a:p>
            <a:pPr lvl="1"/>
            <a:r>
              <a:rPr lang="en-US" sz="2000" dirty="0"/>
              <a:t>Use more real institutional data, subject to policy approval.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0728F5-2E7B-1E85-EC5A-9FE4A96A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Outputs &amp; Next Steps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D1B-FD36-0776-58FD-67BCFA5D2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4661361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4</TotalTime>
  <Words>669</Words>
  <Application>Microsoft Office PowerPoint</Application>
  <PresentationFormat>Widescreen</PresentationFormat>
  <Paragraphs>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Tahoma</vt:lpstr>
      <vt:lpstr>Gallery</vt:lpstr>
      <vt:lpstr>AcademiBalance: An AI‑Driven Faculty Workload Time Allocation Assistant Tools: Excel, Power BI, Microsoft Copilot </vt:lpstr>
      <vt:lpstr>Motivation &amp; Problem</vt:lpstr>
      <vt:lpstr>Data, Metrics &amp; Scope</vt:lpstr>
      <vt:lpstr>Methodology &amp; Classification</vt:lpstr>
      <vt:lpstr>Dashboard, Workflow &amp; Chatbot</vt:lpstr>
      <vt:lpstr>Key Findings</vt:lpstr>
      <vt:lpstr>AI, Automation &amp; Chatbot </vt:lpstr>
      <vt:lpstr>Faculty View &amp; Planning Use Cases</vt:lpstr>
      <vt:lpstr>Results and Insights</vt:lpstr>
      <vt:lpstr>Limitations and Future Scope</vt:lpstr>
      <vt:lpstr>Conclusion</vt:lpstr>
      <vt:lpstr>Project Outputs &amp; 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Chandran</dc:creator>
  <cp:lastModifiedBy>Murali Chandran</cp:lastModifiedBy>
  <cp:revision>1</cp:revision>
  <dcterms:created xsi:type="dcterms:W3CDTF">2026-04-14T12:32:40Z</dcterms:created>
  <dcterms:modified xsi:type="dcterms:W3CDTF">2026-04-14T12:37:23Z</dcterms:modified>
</cp:coreProperties>
</file>